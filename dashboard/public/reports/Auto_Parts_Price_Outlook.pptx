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17.7</c:v>
                </c:pt>
                <c:pt idx="1">
                  <c:v>17.58</c:v>
                </c:pt>
                <c:pt idx="2">
                  <c:v>17.82</c:v>
                </c:pt>
                <c:pt idx="3">
                  <c:v>17.93</c:v>
                </c:pt>
                <c:pt idx="4">
                  <c:v>17.81</c:v>
                </c:pt>
                <c:pt idx="5">
                  <c:v>17.78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.1"/>
          <c:min val="17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Electrical</c:v>
                  </c:pt>
                  <c:pt idx="1">
                    <c:v>Lighting</c:v>
                  </c:pt>
                  <c:pt idx="2">
                    <c:v>Chassis</c:v>
                  </c:pt>
                  <c:pt idx="3">
                    <c:v>Braking</c:v>
                  </c:pt>
                  <c:pt idx="4">
                    <c:v>Body Stampings</c:v>
                  </c:pt>
                  <c:pt idx="5">
                    <c:v>Fasteners</c:v>
                  </c:pt>
                  <c:pt idx="6">
                    <c:v>Interior Trim</c:v>
                  </c:pt>
                  <c:pt idx="7">
                    <c:v>Sensors</c:v>
                  </c:pt>
                  <c:pt idx="8">
                    <c:v>Powertrain</c:v>
                  </c:pt>
                  <c:pt idx="9">
                    <c:v>HVAC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6.84</c:v>
                </c:pt>
                <c:pt idx="1">
                  <c:v>5.1</c:v>
                </c:pt>
                <c:pt idx="2">
                  <c:v>3.07</c:v>
                </c:pt>
                <c:pt idx="3">
                  <c:v>2.47</c:v>
                </c:pt>
                <c:pt idx="4">
                  <c:v>2.11</c:v>
                </c:pt>
                <c:pt idx="5">
                  <c:v>1.82</c:v>
                </c:pt>
                <c:pt idx="6">
                  <c:v>0.62</c:v>
                </c:pt>
                <c:pt idx="7">
                  <c:v>0.13</c:v>
                </c:pt>
                <c:pt idx="8">
                  <c:v>-0.32</c:v>
                </c:pt>
                <c:pt idx="9">
                  <c:v>-2.9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0A5F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3C5F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94A3B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CBD5E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Powertrain</c:v>
                </c:pt>
                <c:pt idx="1">
                  <c:v>HVAC</c:v>
                </c:pt>
                <c:pt idx="2">
                  <c:v>Lighting</c:v>
                </c:pt>
                <c:pt idx="3">
                  <c:v>Electrical</c:v>
                </c:pt>
                <c:pt idx="4">
                  <c:v>Braking</c:v>
                </c:pt>
                <c:pt idx="5">
                  <c:v>Chassis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24.83</c:v>
                </c:pt>
                <c:pt idx="1">
                  <c:v>19.46</c:v>
                </c:pt>
                <c:pt idx="2">
                  <c:v>13.11</c:v>
                </c:pt>
                <c:pt idx="3">
                  <c:v>9.93</c:v>
                </c:pt>
                <c:pt idx="4">
                  <c:v>9.28</c:v>
                </c:pt>
                <c:pt idx="5">
                  <c:v>8.53</c:v>
                </c:pt>
                <c:pt idx="6">
                  <c:v>14.86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Basket change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-10% FX</c:v>
                  </c:pt>
                  <c:pt idx="1">
                    <c:v>-5% FX</c:v>
                  </c:pt>
                  <c:pt idx="2">
                    <c:v>-2% FX</c:v>
                  </c:pt>
                  <c:pt idx="3">
                    <c:v>+2% FX</c:v>
                  </c:pt>
                  <c:pt idx="4">
                    <c:v>+5% FX</c:v>
                  </c:pt>
                  <c:pt idx="5">
                    <c:v>+10% FX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-1.05</c:v>
                </c:pt>
                <c:pt idx="1">
                  <c:v>-0.54</c:v>
                </c:pt>
                <c:pt idx="2">
                  <c:v>-0.22</c:v>
                </c:pt>
                <c:pt idx="3">
                  <c:v>0.84</c:v>
                </c:pt>
                <c:pt idx="4">
                  <c:v>1.31</c:v>
                </c:pt>
                <c:pt idx="5">
                  <c:v>1.57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Minda Industries</c:v>
                  </c:pt>
                  <c:pt idx="1">
                    <c:v>Varroc Engineering</c:v>
                  </c:pt>
                  <c:pt idx="2">
                    <c:v>Valeo India</c:v>
                  </c:pt>
                  <c:pt idx="3">
                    <c:v>Bosch India</c:v>
                  </c:pt>
                  <c:pt idx="4">
                    <c:v>Lumax Industries</c:v>
                  </c:pt>
                  <c:pt idx="5">
                    <c:v>Denso India</c:v>
                  </c:pt>
                  <c:pt idx="6">
                    <c:v>Aptiv India</c:v>
                  </c:pt>
                  <c:pt idx="7">
                    <c:v>Others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23.6</c:v>
                </c:pt>
                <c:pt idx="1">
                  <c:v>15</c:v>
                </c:pt>
                <c:pt idx="2">
                  <c:v>12.1</c:v>
                </c:pt>
                <c:pt idx="3">
                  <c:v>11.5</c:v>
                </c:pt>
                <c:pt idx="4">
                  <c:v>11.3</c:v>
                </c:pt>
                <c:pt idx="5">
                  <c:v>8.6</c:v>
                </c:pt>
                <c:pt idx="6">
                  <c:v>7.6</c:v>
                </c:pt>
                <c:pt idx="7">
                  <c:v>10.4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Parts Price Outlook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months: what moves, why, and who to call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Review  |  Generated by Radar from the connected knowledge base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 edges up 1.3%, but risk is concentrated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card0"/>
          <p:cNvSpPr/>
          <p:nvPr/>
        </p:nvSpPr>
        <p:spPr>
          <a:xfrm>
            <a:off x="548640" y="164592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₹17.56 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basket price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+0.84% vs last month</a:t>
            </a:r>
            <a:endParaRPr lang="en-US" sz="1200" dirty="0"/>
          </a:p>
        </p:txBody>
      </p:sp>
      <p:sp>
        <p:nvSpPr>
          <p:cNvPr id="8" name="card1"/>
          <p:cNvSpPr/>
          <p:nvPr/>
        </p:nvSpPr>
        <p:spPr>
          <a:xfrm>
            <a:off x="2606040" y="164592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₹17.78 L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560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basket, +6 months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291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+1.29% over horizon</a:t>
            </a:r>
            <a:endParaRPr lang="en-US" sz="1200" dirty="0"/>
          </a:p>
        </p:txBody>
      </p:sp>
      <p:sp>
        <p:nvSpPr>
          <p:cNvPr id="12" name="card2"/>
          <p:cNvSpPr/>
          <p:nvPr/>
        </p:nvSpPr>
        <p:spPr>
          <a:xfrm>
            <a:off x="4663440" y="164592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560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291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60-part backtest</a:t>
            </a:r>
            <a:endParaRPr lang="en-US" sz="1200" dirty="0"/>
          </a:p>
        </p:txBody>
      </p:sp>
      <p:sp>
        <p:nvSpPr>
          <p:cNvPr id="16" name="card3"/>
          <p:cNvSpPr/>
          <p:nvPr/>
        </p:nvSpPr>
        <p:spPr>
          <a:xfrm>
            <a:off x="6720840" y="164592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₹2.83 L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560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at risk (&gt;5% rise)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291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 of basket, 73 parts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Price forecasting model run, 480 parts, 10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 climb through October, then ease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basket price, Jul to Dec 2026 (₹ lakh)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554480"/>
            <a:ext cx="2468880" cy="2926080"/>
          </a:xfrm>
          <a:prstGeom prst="roundRect">
            <a:avLst>
              <a:gd name="adj" fmla="val 29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73736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know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₹17.93 L in October, up 1.2% from July.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 widens to ±₹0.7 L by August.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ahead of the October peak where contracts allow.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Forecast horizon table, Knowledge Base: Pricing Models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and Lighting see the sharpest rises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price change by category over 6 months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8046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Category summary, Knowledge Base: Category Cost Reports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Powertrain and HVAC carry 44% of spend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basket spend by category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4592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82880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44.3%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spend sits in two categories whose forecasts are flat to falling.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Category summary, Knowledge Base: Category Cost Reports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drivers explain the move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prices are changing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904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3794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10% FX rise lifts the basket about 1.6%, mostly imported electronics.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4378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and aluminium contracts reprice in Q4 and feed wiring and lighting.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02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and duty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49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and duty shocks move the basket by less than 0.4% in every scenario.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FX and geopolitical scenario analysis, Knowledge Base: Market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 swings move the basket by up to 1.6%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price change under FX shocks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8046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FX scenario analysis, Knowledge Base: Market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Minda alone holds nearly a quarter of the risk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spend at risk by vendor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8046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Risk concentration analysis, Knowledge Base: Supplier Master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vendors hold 62% of the risk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call first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201168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exposed 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Minda Industries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price review, lock Q4 volume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Varroc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cost breakdown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Valeo India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HVAC, Lighting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Negotiate index-linked clause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Bosch India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Electrical, Braking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Q4 pricing validity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Risk concentration analysis, Knowledge Base: Supplier Master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early buys for Electrical and Lighting before the October peak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86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price reviews with Minda, Varroc, Valeo and Bosch this month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FX hedge position against the 10% rupee scenario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49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outlook after the November contract repricing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Parts Price Outlook - Next 6 Months</dc:title>
  <dc:subject>PptxGenJS Presentation</dc:subject>
  <dc:creator>PptxGenJS</dc:creator>
  <cp:lastModifiedBy>PptxGenJS</cp:lastModifiedBy>
  <cp:revision>1</cp:revision>
  <dcterms:created xsi:type="dcterms:W3CDTF">2026-10-14T05:24:11Z</dcterms:created>
  <dcterms:modified xsi:type="dcterms:W3CDTF">2026-10-14T05:24:11Z</dcterms:modified>
</cp:coreProperties>
</file>