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37160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 Parts Price Outlook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2860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BE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6 months: what moves, why, and who to call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2062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for Leadership Review  |  Generated by Radar from the connected knowledge base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Basket edges up 1.3%, but risk is concentrated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87552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1400" dirty="0"/>
          </a:p>
        </p:txBody>
      </p:sp>
      <p:sp>
        <p:nvSpPr>
          <p:cNvPr id="4" name="card0"/>
          <p:cNvSpPr/>
          <p:nvPr/>
        </p:nvSpPr>
        <p:spPr>
          <a:xfrm>
            <a:off x="548640" y="1645920"/>
            <a:ext cx="1874520" cy="2377440"/>
          </a:xfrm>
          <a:prstGeom prst="roundRect">
            <a:avLst>
              <a:gd name="adj" fmla="val 3902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82880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â‚¹17.56 L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56032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basket price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29184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+0.84% vs last month</a:t>
            </a:r>
            <a:endParaRPr lang="en-US" sz="1200" dirty="0"/>
          </a:p>
        </p:txBody>
      </p:sp>
      <p:sp>
        <p:nvSpPr>
          <p:cNvPr id="8" name="card1"/>
          <p:cNvSpPr/>
          <p:nvPr/>
        </p:nvSpPr>
        <p:spPr>
          <a:xfrm>
            <a:off x="2606040" y="1645920"/>
            <a:ext cx="1874520" cy="2377440"/>
          </a:xfrm>
          <a:prstGeom prst="roundRect">
            <a:avLst>
              <a:gd name="adj" fmla="val 3902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743200" y="182880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â‚¹17.78 L</a:t>
            </a:r>
            <a:endParaRPr lang="en-US" sz="2800" dirty="0"/>
          </a:p>
        </p:txBody>
      </p:sp>
      <p:sp>
        <p:nvSpPr>
          <p:cNvPr id="10" name="Text 8"/>
          <p:cNvSpPr txBox="1"/>
          <p:nvPr/>
        </p:nvSpPr>
        <p:spPr>
          <a:xfrm>
            <a:off x="2743200" y="256032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basket, +6 months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2743200" y="329184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+1.29% over horizon</a:t>
            </a:r>
            <a:endParaRPr lang="en-US" sz="1200" dirty="0"/>
          </a:p>
        </p:txBody>
      </p:sp>
      <p:sp>
        <p:nvSpPr>
          <p:cNvPr id="12" name="card2"/>
          <p:cNvSpPr/>
          <p:nvPr/>
        </p:nvSpPr>
        <p:spPr>
          <a:xfrm>
            <a:off x="4663440" y="1645920"/>
            <a:ext cx="1874520" cy="2377440"/>
          </a:xfrm>
          <a:prstGeom prst="roundRect">
            <a:avLst>
              <a:gd name="adj" fmla="val 3902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00600" y="182880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96.7%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4800600" y="256032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model accuracy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800600" y="329184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XGBoost, 60-part backtest</a:t>
            </a:r>
            <a:endParaRPr lang="en-US" sz="1200" dirty="0"/>
          </a:p>
        </p:txBody>
      </p:sp>
      <p:sp>
        <p:nvSpPr>
          <p:cNvPr id="16" name="card3"/>
          <p:cNvSpPr/>
          <p:nvPr/>
        </p:nvSpPr>
        <p:spPr>
          <a:xfrm>
            <a:off x="6720840" y="1645920"/>
            <a:ext cx="1874520" cy="2377440"/>
          </a:xfrm>
          <a:prstGeom prst="roundRect">
            <a:avLst>
              <a:gd name="adj" fmla="val 3902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858000" y="182880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â‚¹2.83 L</a:t>
            </a:r>
            <a:endParaRPr lang="en-US" sz="2800" dirty="0"/>
          </a:p>
        </p:txBody>
      </p:sp>
      <p:sp>
        <p:nvSpPr>
          <p:cNvPr id="18" name="Text 16"/>
          <p:cNvSpPr txBox="1"/>
          <p:nvPr/>
        </p:nvSpPr>
        <p:spPr>
          <a:xfrm>
            <a:off x="6858000" y="256032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 at risk (&gt;5% rise)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858000" y="329184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16.1% of basket, 73 parts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7548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Price forecasting model run, 480 parts, 10 categories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Prices climb through October, then ease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87552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basket price, Jul to Dec 2026 (â‚¹ lakh)</a:t>
            </a:r>
            <a:endParaRPr lang="en-US" sz="1400" dirty="0"/>
          </a:p>
        </p:txBody>
      </p:sp>
      <p:pic>
        <p:nvPicPr>
          <p:cNvPr id="4" name="Image 0" descr="char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63040"/>
            <a:ext cx="5303520" cy="32004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126480" y="1554480"/>
            <a:ext cx="2468880" cy="2926080"/>
          </a:xfrm>
          <a:prstGeom prst="roundRect">
            <a:avLst>
              <a:gd name="adj" fmla="val 2963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309360" y="1737360"/>
            <a:ext cx="21031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know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 at â‚¹17.93 L in October, up 1.2% from July.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band widens to Â±â‚¹0.7 L by August.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 ahead of the October peak where contracts allow.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47548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Forecast horizon table, Knowledge Base: Pricing Models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Electrical and Lighting see the sharpest rises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87552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price change by category over 6 months (%)</a:t>
            </a:r>
            <a:endParaRPr lang="en-US" sz="1400" dirty="0"/>
          </a:p>
        </p:txBody>
      </p:sp>
      <p:pic>
        <p:nvPicPr>
          <p:cNvPr id="4" name="Image 0" descr="char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8046720" cy="32461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47548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Category summary, Knowledge Base: Category Cost Reports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Powertrain and HVAC carry 44% of spend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87552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basket spend by category (%)</a:t>
            </a:r>
            <a:endParaRPr lang="en-US" sz="1400" dirty="0"/>
          </a:p>
        </p:txBody>
      </p:sp>
      <p:pic>
        <p:nvPicPr>
          <p:cNvPr id="4" name="Image 0" descr="char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4937760" cy="32461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943600" y="1645920"/>
            <a:ext cx="2651760" cy="2560320"/>
          </a:xfrm>
          <a:prstGeom prst="roundRect">
            <a:avLst>
              <a:gd name="adj" fmla="val 28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126480" y="1828800"/>
            <a:ext cx="22860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44.3%</a:t>
            </a:r>
            <a:endParaRPr lang="en-US" sz="4000" dirty="0"/>
          </a:p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spend sits in two categories whose forecasts are flat to falling.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47548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Category summary, Knowledge Base: Category Cost Reports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drivers explain the move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87552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prices are changing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640080" cy="64008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508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1490472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Currency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1837944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10% FX rise lifts the basket about 1.6%, mostly imported electronics.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514600"/>
            <a:ext cx="640080" cy="64008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5146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1463040" y="2496312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materials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463040" y="2843784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Copper and aluminium contracts reprice in Q4 and feed wiring and lighting.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520440"/>
            <a:ext cx="640080" cy="64008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5204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1463040" y="3502152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Logistics and duty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3849624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Freight and duty shocks move the basket by less than 0.4% in every scenario.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7548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FX and geopolitical scenario analysis, Knowledge Base: Market Intelligence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FX swings move the basket by up to 1.6%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87552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Basket price change under FX shocks (%)</a:t>
            </a:r>
            <a:endParaRPr lang="en-US" sz="1400" dirty="0"/>
          </a:p>
        </p:txBody>
      </p:sp>
      <p:pic>
        <p:nvPicPr>
          <p:cNvPr id="4" name="Image 0" descr="char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8046720" cy="32461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47548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FX scenario analysis, Knowledge Base: Market Intelligence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Minda alone holds nearly a quarter of the risk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87552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spend at risk by vendor (%)</a:t>
            </a:r>
            <a:endParaRPr lang="en-US" sz="1400" dirty="0"/>
          </a:p>
        </p:txBody>
      </p:sp>
      <p:pic>
        <p:nvPicPr>
          <p:cNvPr id="4" name="Image 0" descr="char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8046720" cy="32461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47548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Risk concentration analysis, Knowledge Base: Supplier Master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vendors hold 62% of the risk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87552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to call first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80467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371600"/>
                <a:gridCol w="2011680"/>
                <a:gridCol w="265176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Vendor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 of risk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 exposed category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Suggested action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1F3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Minda Industries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23.6%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Electrical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 price review, lock Q4 volume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Varroc Engineering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Electrical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Request cost breakdown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Valeo India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12.1%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HVAC, Lighting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Negotiate index-linked clause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Bosch India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Electrical, Braking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 Q4 pricing validity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47548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Risk concentration analysis, Knowledge Base: Supplier Master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Recommended next steps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600200"/>
            <a:ext cx="457200" cy="45720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600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371600" y="155448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early buys for Electrical and Lighting before the October peak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331720"/>
            <a:ext cx="457200" cy="45720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2331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28600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price reviews with Minda, Varroc, Valeo and Bosch this month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40080" y="3063240"/>
            <a:ext cx="457200" cy="45720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3063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01752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the FX hedge position against the 10% rupee scenario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40080" y="3794760"/>
            <a:ext cx="457200" cy="45720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3794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374904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Re-run this outlook after the November contract repricing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Auto Parts Price Outlook - Next 6 Months</dc:title>
  <dc:subject>PptxGenJS Presentation</dc:subject>
  <dc:creator>PptxGenJS</dc:creator>
  <cp:lastModifiedBy>PptxGenJS</cp:lastModifiedBy>
  <cp:revision>1</cp:revision>
  <dcterms:created xsi:type="dcterms:W3CDTF">2026-10-15T03:48:53Z</dcterms:created>
  <dcterms:modified xsi:type="dcterms:W3CDTF">2026-10-15T03:48:53Z</dcterms:modified>
</cp:coreProperties>
</file>